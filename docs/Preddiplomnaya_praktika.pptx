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media17.mp4" ContentType="video/mp4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1.png" ContentType="image/png"/>
  <Override PartName="/ppt/media/image22.png" ContentType="image/png"/>
  <Override PartName="/ppt/media/image5.wmf" ContentType="image/x-wmf"/>
  <Override PartName="/ppt/media/image21.png" ContentType="image/png"/>
  <Override PartName="/ppt/media/image19.png" ContentType="image/png"/>
  <Override PartName="/ppt/media/image14.png" ContentType="image/png"/>
  <Override PartName="/ppt/media/image2.jpeg" ContentType="image/jpeg"/>
  <Override PartName="/ppt/media/image4.jpeg" ContentType="image/jpe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521000"/>
            <a:ext cx="10972440" cy="468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93508C-DF0F-4A4A-ADEC-8BDB430D3A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19F30F-842D-4D04-B7D4-103FCB1059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BC56D27-F165-4A6C-BF30-00CDB1F104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521000"/>
            <a:ext cx="10972440" cy="468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8612F5E-B4A5-4769-99EF-EF622DB6EC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6BF1FA6-8828-4A92-8630-E51C000FD0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521000"/>
            <a:ext cx="5354280" cy="468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31960" y="1521000"/>
            <a:ext cx="5354280" cy="468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C8D9116-F49F-4968-B9A9-BDB88EE357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57C9398-E8F8-4E73-B566-39F57388AD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16FA09F-6185-4B8E-80EF-B9F6BB2B94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A760B39-A713-4842-9318-38C48957D8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0B27DBF-755E-44E5-8DE1-1BC5B1BAC8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BEE56F2-C661-443A-B38B-91A726497C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Рисунок 6" descr=""/>
          <p:cNvPicPr/>
          <p:nvPr/>
        </p:nvPicPr>
        <p:blipFill>
          <a:blip r:embed="rId3"/>
          <a:srcRect l="0" t="27972" r="0" b="0"/>
          <a:stretch/>
        </p:blipFill>
        <p:spPr>
          <a:xfrm>
            <a:off x="0" y="1558800"/>
            <a:ext cx="12191760" cy="4938840"/>
          </a:xfrm>
          <a:prstGeom prst="rect">
            <a:avLst/>
          </a:prstGeom>
          <a:ln w="0">
            <a:noFill/>
          </a:ln>
        </p:spPr>
      </p:pic>
      <p:sp>
        <p:nvSpPr>
          <p:cNvPr id="1" name="Прямоугольник 1"/>
          <p:cNvSpPr/>
          <p:nvPr/>
        </p:nvSpPr>
        <p:spPr>
          <a:xfrm>
            <a:off x="28080" y="22320"/>
            <a:ext cx="2255040" cy="167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2" name="Рисунок 7" descr=""/>
          <p:cNvPicPr/>
          <p:nvPr/>
        </p:nvPicPr>
        <p:blipFill>
          <a:blip r:embed="rId4"/>
          <a:srcRect l="0" t="0" r="73073" b="0"/>
          <a:stretch/>
        </p:blipFill>
        <p:spPr>
          <a:xfrm>
            <a:off x="263520" y="240120"/>
            <a:ext cx="1007640" cy="939960"/>
          </a:xfrm>
          <a:prstGeom prst="rect">
            <a:avLst/>
          </a:prstGeom>
          <a:ln w="0">
            <a:noFill/>
          </a:ln>
        </p:spPr>
      </p:pic>
      <p:pic>
        <p:nvPicPr>
          <p:cNvPr id="3" name="Рисунок 10" descr=""/>
          <p:cNvPicPr/>
          <p:nvPr/>
        </p:nvPicPr>
        <p:blipFill>
          <a:blip r:embed="rId5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184500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600" spc="-1" strike="noStrike">
                <a:solidFill>
                  <a:srgbClr val="0070c0"/>
                </a:solidFill>
                <a:latin typeface="Cambria"/>
              </a:rPr>
              <a:t>Образец заголовка</a:t>
            </a:r>
            <a:endParaRPr b="0" lang="ru-RU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empora LGC Uni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empora LGC Uni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22A7AA-D27D-42EE-8C28-9C614250B20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Для правки структуры щёлкните мышью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Третий уровень структуры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Четвёртый уровень структуры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6" descr=""/>
          <p:cNvPicPr/>
          <p:nvPr/>
        </p:nvPicPr>
        <p:blipFill>
          <a:blip r:embed="rId3"/>
          <a:srcRect l="0" t="27972" r="0" b="0"/>
          <a:stretch/>
        </p:blipFill>
        <p:spPr>
          <a:xfrm>
            <a:off x="0" y="1558800"/>
            <a:ext cx="12191760" cy="4938840"/>
          </a:xfrm>
          <a:prstGeom prst="rect">
            <a:avLst/>
          </a:prstGeom>
          <a:ln w="0">
            <a:noFill/>
          </a:ln>
        </p:spPr>
      </p:pic>
      <p:sp>
        <p:nvSpPr>
          <p:cNvPr id="12" name="Прямоугольник 1"/>
          <p:cNvSpPr/>
          <p:nvPr/>
        </p:nvSpPr>
        <p:spPr>
          <a:xfrm>
            <a:off x="28080" y="22320"/>
            <a:ext cx="2255040" cy="167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13" name="Рисунок 7" descr=""/>
          <p:cNvPicPr/>
          <p:nvPr/>
        </p:nvPicPr>
        <p:blipFill>
          <a:blip r:embed="rId4"/>
          <a:srcRect l="0" t="0" r="73073" b="0"/>
          <a:stretch/>
        </p:blipFill>
        <p:spPr>
          <a:xfrm>
            <a:off x="263520" y="240120"/>
            <a:ext cx="1007640" cy="93996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06960" y="274680"/>
            <a:ext cx="926928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521000"/>
            <a:ext cx="10972440" cy="4680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20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Второй уровень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Третий уровень</a:t>
            </a:r>
            <a:endParaRPr b="0" lang="ru-RU" sz="1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16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10243e"/>
              </a:buClr>
              <a:buFont typeface="Arial"/>
              <a:buChar char="»"/>
            </a:pPr>
            <a:r>
              <a:rPr b="0" lang="ru-RU" sz="16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Пятый уровень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empora LGC Uni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empora LGC Uni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8715C7-FA3E-46CD-B7B2-669EB069BFF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6" descr=""/>
          <p:cNvPicPr/>
          <p:nvPr/>
        </p:nvPicPr>
        <p:blipFill>
          <a:blip r:embed="rId3"/>
          <a:srcRect l="0" t="27972" r="0" b="0"/>
          <a:stretch/>
        </p:blipFill>
        <p:spPr>
          <a:xfrm>
            <a:off x="0" y="1558800"/>
            <a:ext cx="12191760" cy="4938840"/>
          </a:xfrm>
          <a:prstGeom prst="rect">
            <a:avLst/>
          </a:prstGeom>
          <a:ln w="0">
            <a:noFill/>
          </a:ln>
        </p:spPr>
      </p:pic>
      <p:sp>
        <p:nvSpPr>
          <p:cNvPr id="20" name="Прямоугольник 1"/>
          <p:cNvSpPr/>
          <p:nvPr/>
        </p:nvSpPr>
        <p:spPr>
          <a:xfrm>
            <a:off x="28080" y="22320"/>
            <a:ext cx="2255040" cy="167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21" name="Рисунок 7" descr=""/>
          <p:cNvPicPr/>
          <p:nvPr/>
        </p:nvPicPr>
        <p:blipFill>
          <a:blip r:embed="rId4"/>
          <a:srcRect l="0" t="0" r="73073" b="0"/>
          <a:stretch/>
        </p:blipFill>
        <p:spPr>
          <a:xfrm>
            <a:off x="263520" y="240120"/>
            <a:ext cx="1007640" cy="939960"/>
          </a:xfrm>
          <a:prstGeom prst="rect">
            <a:avLst/>
          </a:prstGeom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20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Второй уровень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Третий уровень</a:t>
            </a:r>
            <a:endParaRPr b="0" lang="ru-RU" sz="1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16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10243e"/>
              </a:buClr>
              <a:buFont typeface="Arial"/>
              <a:buChar char="»"/>
            </a:pPr>
            <a:r>
              <a:rPr b="0" lang="ru-RU" sz="16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Пятый уровень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empora LGC Uni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empora LGC Uni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6C756F-5FB5-48AE-B5FB-BEA7CD69832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6" descr=""/>
          <p:cNvPicPr/>
          <p:nvPr/>
        </p:nvPicPr>
        <p:blipFill>
          <a:blip r:embed="rId3"/>
          <a:srcRect l="0" t="27972" r="0" b="0"/>
          <a:stretch/>
        </p:blipFill>
        <p:spPr>
          <a:xfrm>
            <a:off x="0" y="1558800"/>
            <a:ext cx="12191760" cy="4938840"/>
          </a:xfrm>
          <a:prstGeom prst="rect">
            <a:avLst/>
          </a:prstGeom>
          <a:ln w="0">
            <a:noFill/>
          </a:ln>
        </p:spPr>
      </p:pic>
      <p:sp>
        <p:nvSpPr>
          <p:cNvPr id="28" name="Прямоугольник 1"/>
          <p:cNvSpPr/>
          <p:nvPr/>
        </p:nvSpPr>
        <p:spPr>
          <a:xfrm>
            <a:off x="28080" y="22320"/>
            <a:ext cx="2255040" cy="167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29" name="Рисунок 7" descr=""/>
          <p:cNvPicPr/>
          <p:nvPr/>
        </p:nvPicPr>
        <p:blipFill>
          <a:blip r:embed="rId4"/>
          <a:srcRect l="0" t="0" r="73073" b="0"/>
          <a:stretch/>
        </p:blipFill>
        <p:spPr>
          <a:xfrm>
            <a:off x="263520" y="240120"/>
            <a:ext cx="1007640" cy="939960"/>
          </a:xfrm>
          <a:prstGeom prst="rect">
            <a:avLst/>
          </a:prstGeom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521000"/>
            <a:ext cx="10972440" cy="4680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7375e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17375e"/>
              </a:buClr>
              <a:buFont typeface="Arial"/>
              <a:buChar char="–"/>
            </a:pPr>
            <a:r>
              <a:rPr b="0" lang="ru-RU" sz="20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Второй уровень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17375e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Третий уровень</a:t>
            </a:r>
            <a:endParaRPr b="0" lang="ru-RU" sz="1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17375e"/>
              </a:buClr>
              <a:buFont typeface="Arial"/>
              <a:buChar char="–"/>
            </a:pPr>
            <a:r>
              <a:rPr b="0" lang="ru-RU" sz="16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17375e"/>
              </a:buClr>
              <a:buFont typeface="Arial"/>
              <a:buChar char="»"/>
            </a:pPr>
            <a:r>
              <a:rPr b="0" lang="ru-RU" sz="16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Пятый уровень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empora LGC Uni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empora LGC Uni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A64C80-6304-439A-BBA4-0F23537F16F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6" descr=""/>
          <p:cNvPicPr/>
          <p:nvPr/>
        </p:nvPicPr>
        <p:blipFill>
          <a:blip r:embed="rId3"/>
          <a:srcRect l="0" t="27972" r="0" b="0"/>
          <a:stretch/>
        </p:blipFill>
        <p:spPr>
          <a:xfrm>
            <a:off x="0" y="1558800"/>
            <a:ext cx="12191760" cy="4938840"/>
          </a:xfrm>
          <a:prstGeom prst="rect">
            <a:avLst/>
          </a:prstGeom>
          <a:ln w="0">
            <a:noFill/>
          </a:ln>
        </p:spPr>
      </p:pic>
      <p:sp>
        <p:nvSpPr>
          <p:cNvPr id="38" name="Прямоугольник 1"/>
          <p:cNvSpPr/>
          <p:nvPr/>
        </p:nvSpPr>
        <p:spPr>
          <a:xfrm>
            <a:off x="28080" y="22320"/>
            <a:ext cx="2255040" cy="167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39" name="Рисунок 7" descr=""/>
          <p:cNvPicPr/>
          <p:nvPr/>
        </p:nvPicPr>
        <p:blipFill>
          <a:blip r:embed="rId4"/>
          <a:srcRect l="0" t="0" r="73073" b="0"/>
          <a:stretch/>
        </p:blipFill>
        <p:spPr>
          <a:xfrm>
            <a:off x="263520" y="240120"/>
            <a:ext cx="1007640" cy="93996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ru-RU" sz="4000" spc="-1" strike="noStrike" cap="all">
                <a:solidFill>
                  <a:srgbClr val="0070c0"/>
                </a:solidFill>
                <a:latin typeface="Cambria"/>
              </a:rPr>
              <a:t>Образец заголовка</a:t>
            </a:r>
            <a:endParaRPr b="0" lang="ru-RU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Образец текста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empora LGC Uni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empora LGC Uni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DA35C6-E1A3-4228-9260-645703D0690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Рисунок 6" descr=""/>
          <p:cNvPicPr/>
          <p:nvPr/>
        </p:nvPicPr>
        <p:blipFill>
          <a:blip r:embed="rId3"/>
          <a:srcRect l="0" t="27972" r="0" b="0"/>
          <a:stretch/>
        </p:blipFill>
        <p:spPr>
          <a:xfrm>
            <a:off x="0" y="1558800"/>
            <a:ext cx="12191760" cy="4938840"/>
          </a:xfrm>
          <a:prstGeom prst="rect">
            <a:avLst/>
          </a:prstGeom>
          <a:ln w="0">
            <a:noFill/>
          </a:ln>
        </p:spPr>
      </p:pic>
      <p:sp>
        <p:nvSpPr>
          <p:cNvPr id="46" name="Прямоугольник 1"/>
          <p:cNvSpPr/>
          <p:nvPr/>
        </p:nvSpPr>
        <p:spPr>
          <a:xfrm>
            <a:off x="28080" y="22320"/>
            <a:ext cx="2255040" cy="167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47" name="Рисунок 7" descr=""/>
          <p:cNvPicPr/>
          <p:nvPr/>
        </p:nvPicPr>
        <p:blipFill>
          <a:blip r:embed="rId4"/>
          <a:srcRect l="0" t="0" r="73073" b="0"/>
          <a:stretch/>
        </p:blipFill>
        <p:spPr>
          <a:xfrm>
            <a:off x="263520" y="240120"/>
            <a:ext cx="1007640" cy="93996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06960" y="274680"/>
            <a:ext cx="926928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989000"/>
            <a:ext cx="5384520" cy="413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2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1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10243e"/>
              </a:buClr>
              <a:buFont typeface="Arial"/>
              <a:buChar char="»"/>
            </a:pPr>
            <a:r>
              <a:rPr b="0" lang="ru-RU" sz="1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197760" y="1989000"/>
            <a:ext cx="5384520" cy="413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2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1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10243e"/>
              </a:buClr>
              <a:buFont typeface="Arial"/>
              <a:buChar char="»"/>
            </a:pPr>
            <a:r>
              <a:rPr b="0" lang="ru-RU" sz="1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empora LGC Uni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empora LGC Uni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B7C525-841B-459D-8099-2008C397237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6" descr=""/>
          <p:cNvPicPr/>
          <p:nvPr/>
        </p:nvPicPr>
        <p:blipFill>
          <a:blip r:embed="rId3"/>
          <a:srcRect l="0" t="27972" r="0" b="0"/>
          <a:stretch/>
        </p:blipFill>
        <p:spPr>
          <a:xfrm>
            <a:off x="0" y="1558800"/>
            <a:ext cx="12191760" cy="4938840"/>
          </a:xfrm>
          <a:prstGeom prst="rect">
            <a:avLst/>
          </a:prstGeom>
          <a:ln w="0">
            <a:noFill/>
          </a:ln>
        </p:spPr>
      </p:pic>
      <p:sp>
        <p:nvSpPr>
          <p:cNvPr id="58" name="Прямоугольник 1"/>
          <p:cNvSpPr/>
          <p:nvPr/>
        </p:nvSpPr>
        <p:spPr>
          <a:xfrm>
            <a:off x="28080" y="22320"/>
            <a:ext cx="2255040" cy="167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59" name="Рисунок 7" descr=""/>
          <p:cNvPicPr/>
          <p:nvPr/>
        </p:nvPicPr>
        <p:blipFill>
          <a:blip r:embed="rId4"/>
          <a:srcRect l="0" t="0" r="73073" b="0"/>
          <a:stretch/>
        </p:blipFill>
        <p:spPr>
          <a:xfrm>
            <a:off x="263520" y="240120"/>
            <a:ext cx="1007640" cy="939960"/>
          </a:xfrm>
          <a:prstGeom prst="rect">
            <a:avLst/>
          </a:prstGeom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06960" y="274680"/>
            <a:ext cx="926928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20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Второй уровень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Третий уровень</a:t>
            </a:r>
            <a:endParaRPr b="0" lang="ru-RU" sz="1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16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10243e"/>
              </a:buClr>
              <a:buFont typeface="Arial"/>
              <a:buChar char="»"/>
            </a:pPr>
            <a:r>
              <a:rPr b="0" lang="ru-RU" sz="16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Пятый уровень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20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Второй уровень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Третий уровень</a:t>
            </a:r>
            <a:endParaRPr b="0" lang="ru-RU" sz="1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16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Четвертый уровень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10243e"/>
              </a:buClr>
              <a:buFont typeface="Arial"/>
              <a:buChar char="»"/>
            </a:pPr>
            <a:r>
              <a:rPr b="0" lang="ru-RU" sz="16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Пятый уровень</a:t>
            </a:r>
            <a:endParaRPr b="0" lang="ru-RU" sz="16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empora LGC Uni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empora LGC Uni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B31B991-610B-4760-99DD-C49254D2AC8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Рисунок 6" descr=""/>
          <p:cNvPicPr/>
          <p:nvPr/>
        </p:nvPicPr>
        <p:blipFill>
          <a:blip r:embed="rId3"/>
          <a:srcRect l="0" t="27972" r="0" b="0"/>
          <a:stretch/>
        </p:blipFill>
        <p:spPr>
          <a:xfrm>
            <a:off x="0" y="1558800"/>
            <a:ext cx="12191760" cy="4938840"/>
          </a:xfrm>
          <a:prstGeom prst="rect">
            <a:avLst/>
          </a:prstGeom>
          <a:ln w="0">
            <a:noFill/>
          </a:ln>
        </p:spPr>
      </p:pic>
      <p:sp>
        <p:nvSpPr>
          <p:cNvPr id="69" name="Прямоугольник 1"/>
          <p:cNvSpPr/>
          <p:nvPr/>
        </p:nvSpPr>
        <p:spPr>
          <a:xfrm>
            <a:off x="28080" y="22320"/>
            <a:ext cx="2255040" cy="167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70" name="Рисунок 7" descr=""/>
          <p:cNvPicPr/>
          <p:nvPr/>
        </p:nvPicPr>
        <p:blipFill>
          <a:blip r:embed="rId4"/>
          <a:srcRect l="0" t="0" r="73073" b="0"/>
          <a:stretch/>
        </p:blipFill>
        <p:spPr>
          <a:xfrm>
            <a:off x="263520" y="240120"/>
            <a:ext cx="1007640" cy="93996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06960" y="274680"/>
            <a:ext cx="926928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empora LGC Uni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empora LGC Uni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19C811F-91C3-4B80-94EC-C3EE7A7C790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Рисунок 6" descr=""/>
          <p:cNvPicPr/>
          <p:nvPr/>
        </p:nvPicPr>
        <p:blipFill>
          <a:blip r:embed="rId3"/>
          <a:srcRect l="0" t="27972" r="0" b="0"/>
          <a:stretch/>
        </p:blipFill>
        <p:spPr>
          <a:xfrm>
            <a:off x="0" y="1558800"/>
            <a:ext cx="12191760" cy="4938840"/>
          </a:xfrm>
          <a:prstGeom prst="rect">
            <a:avLst/>
          </a:prstGeom>
          <a:ln w="0">
            <a:noFill/>
          </a:ln>
        </p:spPr>
      </p:pic>
      <p:sp>
        <p:nvSpPr>
          <p:cNvPr id="77" name="Прямоугольник 1"/>
          <p:cNvSpPr/>
          <p:nvPr/>
        </p:nvSpPr>
        <p:spPr>
          <a:xfrm>
            <a:off x="28080" y="22320"/>
            <a:ext cx="2255040" cy="167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78" name="Рисунок 7" descr=""/>
          <p:cNvPicPr/>
          <p:nvPr/>
        </p:nvPicPr>
        <p:blipFill>
          <a:blip r:embed="rId4"/>
          <a:srcRect l="0" t="0" r="73073" b="0"/>
          <a:stretch/>
        </p:blipFill>
        <p:spPr>
          <a:xfrm>
            <a:off x="263520" y="240120"/>
            <a:ext cx="1007640" cy="939960"/>
          </a:xfrm>
          <a:prstGeom prst="rect">
            <a:avLst/>
          </a:prstGeom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empora LGC Uni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empora LGC Uni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EC77FD-CD5B-4184-9411-F070964F523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Рисунок 6" descr=""/>
          <p:cNvPicPr/>
          <p:nvPr/>
        </p:nvPicPr>
        <p:blipFill>
          <a:blip r:embed="rId3"/>
          <a:srcRect l="0" t="27972" r="0" b="0"/>
          <a:stretch/>
        </p:blipFill>
        <p:spPr>
          <a:xfrm>
            <a:off x="0" y="1558800"/>
            <a:ext cx="12191760" cy="4938840"/>
          </a:xfrm>
          <a:prstGeom prst="rect">
            <a:avLst/>
          </a:prstGeom>
          <a:ln w="0">
            <a:noFill/>
          </a:ln>
        </p:spPr>
      </p:pic>
      <p:sp>
        <p:nvSpPr>
          <p:cNvPr id="83" name="Прямоугольник 1"/>
          <p:cNvSpPr/>
          <p:nvPr/>
        </p:nvSpPr>
        <p:spPr>
          <a:xfrm>
            <a:off x="28080" y="22320"/>
            <a:ext cx="2255040" cy="167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84" name="Рисунок 7" descr=""/>
          <p:cNvPicPr/>
          <p:nvPr/>
        </p:nvPicPr>
        <p:blipFill>
          <a:blip r:embed="rId4"/>
          <a:srcRect l="0" t="0" r="73073" b="0"/>
          <a:stretch/>
        </p:blipFill>
        <p:spPr>
          <a:xfrm>
            <a:off x="263520" y="240120"/>
            <a:ext cx="1007640" cy="93996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ru-RU" sz="2000" spc="-1" strike="noStrike">
                <a:solidFill>
                  <a:srgbClr val="0070c0"/>
                </a:solidFill>
                <a:latin typeface="Cambria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Образец текста</a:t>
            </a:r>
            <a:endParaRPr b="0" lang="ru-RU" sz="32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28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Второй уровень</a:t>
            </a:r>
            <a:endParaRPr b="0" lang="ru-RU" sz="28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10243e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Третий уровень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10243e"/>
              </a:buClr>
              <a:buFont typeface="Arial"/>
              <a:buChar char="–"/>
            </a:pPr>
            <a:r>
              <a:rPr b="0" lang="ru-RU" sz="20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Четвертый уровень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10243e"/>
              </a:buClr>
              <a:buFont typeface="Arial"/>
              <a:buChar char="»"/>
            </a:pPr>
            <a:r>
              <a:rPr b="0" lang="ru-RU" sz="20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Пятый уровень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Образец текста</a:t>
            </a:r>
            <a:endParaRPr b="0" lang="ru-RU" sz="1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empora LGC Uni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empora LGC Uni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AAB368-59C2-42C3-A95E-B2C234E4CF1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Рисунок 6" descr=""/>
          <p:cNvPicPr/>
          <p:nvPr/>
        </p:nvPicPr>
        <p:blipFill>
          <a:blip r:embed="rId3"/>
          <a:srcRect l="0" t="27972" r="0" b="0"/>
          <a:stretch/>
        </p:blipFill>
        <p:spPr>
          <a:xfrm>
            <a:off x="0" y="1558800"/>
            <a:ext cx="12191760" cy="4938840"/>
          </a:xfrm>
          <a:prstGeom prst="rect">
            <a:avLst/>
          </a:prstGeom>
          <a:ln w="0">
            <a:noFill/>
          </a:ln>
        </p:spPr>
      </p:pic>
      <p:sp>
        <p:nvSpPr>
          <p:cNvPr id="92" name="Прямоугольник 1"/>
          <p:cNvSpPr/>
          <p:nvPr/>
        </p:nvSpPr>
        <p:spPr>
          <a:xfrm>
            <a:off x="28080" y="22320"/>
            <a:ext cx="2255040" cy="167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93" name="Рисунок 7" descr=""/>
          <p:cNvPicPr/>
          <p:nvPr/>
        </p:nvPicPr>
        <p:blipFill>
          <a:blip r:embed="rId4"/>
          <a:srcRect l="0" t="0" r="73073" b="0"/>
          <a:stretch/>
        </p:blipFill>
        <p:spPr>
          <a:xfrm>
            <a:off x="263520" y="240120"/>
            <a:ext cx="1007640" cy="939960"/>
          </a:xfrm>
          <a:prstGeom prst="rect">
            <a:avLst/>
          </a:prstGeom>
          <a:ln w="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ru-RU" sz="2000" spc="-1" strike="noStrike">
                <a:solidFill>
                  <a:srgbClr val="0070c0"/>
                </a:solidFill>
                <a:latin typeface="Cambria"/>
              </a:rPr>
              <a:t>Образец заголовка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Вставка рисунка</a:t>
            </a:r>
            <a:endParaRPr b="0" lang="ru-RU" sz="32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2">
                    <a:lumMod val="50000"/>
                  </a:schemeClr>
                </a:solidFill>
                <a:latin typeface="Arial"/>
              </a:rPr>
              <a:t>Образец текста</a:t>
            </a:r>
            <a:endParaRPr b="0" lang="ru-RU" sz="1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empora LGC Uni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empora LGC Uni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844D49-2D6C-4213-88DE-84B663FA261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video" Target="../media/media17.mp4"/><Relationship Id="rId2" Type="http://schemas.microsoft.com/office/2007/relationships/media" Target="../media/media17.mp4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4400" y="184500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600" spc="-1" strike="noStrike">
                <a:solidFill>
                  <a:srgbClr val="0070c0"/>
                </a:solidFill>
                <a:latin typeface="Arial"/>
              </a:rPr>
              <a:t>Разработка методики создания набора данных для задач автономного движения БЭК в арктических условиях</a:t>
            </a:r>
            <a:endParaRPr b="0" lang="ru-RU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1828800" y="4005000"/>
            <a:ext cx="853416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Подготовили студенты 2 курса магистратуры направления подготовки «Интеллектуальный анализ геоинформационных систем»</a:t>
            </a:r>
            <a:endParaRPr b="0" lang="ru-RU" sz="2000" spc="-1" strike="noStrike">
              <a:solidFill>
                <a:srgbClr val="000000"/>
              </a:solidFill>
              <a:latin typeface="Open Sans"/>
            </a:endParaRPr>
          </a:p>
          <a:p>
            <a:pPr indent="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Абдурахманова Карина Отабековна, Архаров Никита Михайлович</a:t>
            </a:r>
            <a:endParaRPr b="0" lang="ru-RU" sz="2000" spc="-1" strike="noStrike">
              <a:solidFill>
                <a:srgbClr val="000000"/>
              </a:solidFill>
              <a:latin typeface="Open Sans"/>
            </a:endParaRPr>
          </a:p>
          <a:p>
            <a:pPr indent="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Научный руководитель: Васендина Ирина Сергеевна</a:t>
            </a:r>
            <a:endParaRPr b="0" lang="ru-RU" sz="20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34"/>
          </p:nvPr>
        </p:nvSpPr>
        <p:spPr>
          <a:xfrm>
            <a:off x="8760240" y="63813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424FB6C-6525-485F-9C39-B32F0A7A128F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Актуальность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2187000"/>
            <a:ext cx="10972440" cy="2483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Освоение Арктики требует внедрения автономных БЭК, но существующие наборы данных для обучения ИИ не учитывают ледовые и климатические особенности региона. Разработка специализированной методики формирования данных — критическое условие для достижения целей Стратегии цифровой трансформации транспорта РФ до 2030 года и успешной сертификации беспилотных судов.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35"/>
          </p:nvPr>
        </p:nvSpPr>
        <p:spPr>
          <a:xfrm>
            <a:off x="8832240" y="6464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8417C9-26B9-4E94-A9B3-FB27E185C659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 </a:t>
            </a: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Цель и задачи исследования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521000"/>
            <a:ext cx="10972440" cy="4680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Цель: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Формирование системного подхода к сбору, структурированию и подготовке данных для автономного движения БЭК в арктических условиях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Задачи: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Анализ развития автономного водного транспорта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Анализ требований к наборам данных (нормативные документы)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Обоснование состава сенсорного оборудования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Сравнительный анализ существующих датасетов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Разработка методики создания набора данных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Проектирование схемы методики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36"/>
          </p:nvPr>
        </p:nvSpPr>
        <p:spPr>
          <a:xfrm>
            <a:off x="8737560" y="645408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B58D51-C12F-4344-80D5-036CE04D53EC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Объект и предмет исследования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09480" y="1521000"/>
            <a:ext cx="10972440" cy="4680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Объект: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Процесс формирования набора данных для систем ИИ, обеспечивающий автономное движение БЭК в арктической среде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Предмет: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Совокупность методических принципов и требований, определяющих состав, структуру, сбор и разметку данных для обучения алгоритмов автономной навигации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37"/>
          </p:nvPr>
        </p:nvSpPr>
        <p:spPr>
          <a:xfrm>
            <a:off x="8737560" y="64929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9F7EB3F-D698-4E95-8A8F-45301D888816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Научная новизна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521000"/>
            <a:ext cx="10972440" cy="4680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479"/>
              </a:spcBef>
              <a:buClr>
                <a:srgbClr val="17375e"/>
              </a:buClr>
              <a:buFont typeface="Wingdings" charset="2"/>
              <a:buChar char=""/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 </a:t>
            </a: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Предложена методика создания набора данных, адаптированная под условия арктической акватории РФ (лед, низкие температуры)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79"/>
              </a:spcBef>
              <a:buClr>
                <a:srgbClr val="17375e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Систематизированы требования к наборам данных для БЭК, включая состав датчиков и сценарии использования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79"/>
              </a:spcBef>
              <a:buClr>
                <a:srgbClr val="17375e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Выполнена классификация сценариев эксплуатации БЭК в Арктике и выделены типовые задачи (классификация, сегментация, обнаружение объектов)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38"/>
          </p:nvPr>
        </p:nvSpPr>
        <p:spPr>
          <a:xfrm>
            <a:off x="8737560" y="64929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4A43E7-AC21-4294-A935-BEA3E77DBE59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Практическая значимость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521000"/>
            <a:ext cx="10972440" cy="4680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7375e"/>
              </a:buClr>
              <a:buFont typeface="Wingdings" charset="2"/>
              <a:buChar char=""/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Методика может быть использована научными и инженерными коллективами для создания датасетов под конкретные проекты БЭК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7375e"/>
              </a:buClr>
              <a:buFont typeface="Wingdings" charset="2"/>
              <a:buChar char=""/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Соответствует задачам Стратегии цифровой трансформации транспортной отрасли до 2030 года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7375e"/>
              </a:buClr>
              <a:buFont typeface="Wingdings" charset="2"/>
              <a:buChar char=""/>
            </a:pPr>
            <a:r>
              <a:rPr b="0" lang="ru-RU" sz="24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Обеспечивает достижение контрольных точек проекта «Приоритет-2030»:</a:t>
            </a:r>
            <a:endParaRPr b="0" lang="ru-RU" sz="24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17375e"/>
              </a:buClr>
              <a:buFont typeface="Arial"/>
              <a:buChar char="–"/>
            </a:pPr>
            <a:r>
              <a:rPr b="0" lang="ru-RU" sz="20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2026 г. — валидация цифрового двойника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17375e"/>
              </a:buClr>
              <a:buFont typeface="Arial"/>
              <a:buChar char="–"/>
            </a:pPr>
            <a:r>
              <a:rPr b="0" lang="ru-RU" sz="20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2027 г. — тестирование прототипа ≥3-й степени автономности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17375e"/>
              </a:buClr>
              <a:buFont typeface="Arial"/>
              <a:buChar char="–"/>
            </a:pPr>
            <a:r>
              <a:rPr b="0" lang="ru-RU" sz="20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2029 г. — системы автошвартовки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17375e"/>
              </a:buClr>
              <a:buFont typeface="Arial"/>
              <a:buChar char="–"/>
            </a:pPr>
            <a:r>
              <a:rPr b="0" lang="ru-RU" sz="2000" spc="-1" strike="noStrike">
                <a:solidFill>
                  <a:schemeClr val="dk2">
                    <a:lumMod val="75000"/>
                  </a:schemeClr>
                </a:solidFill>
                <a:latin typeface="Arial"/>
              </a:rPr>
              <a:t>2030 г. — методика сертификации</a:t>
            </a:r>
            <a:endParaRPr b="0" lang="ru-RU" sz="2000" spc="-1" strike="noStrike">
              <a:solidFill>
                <a:schemeClr val="dk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39"/>
          </p:nvPr>
        </p:nvSpPr>
        <p:spPr>
          <a:xfrm>
            <a:off x="8737560" y="645408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5834F8-CB01-4D0B-A05E-31FBB2944450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Анализ существующих наборов данных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9" name="Рисунок 7" descr=""/>
          <p:cNvPicPr/>
          <p:nvPr/>
        </p:nvPicPr>
        <p:blipFill>
          <a:blip r:embed="rId1"/>
          <a:stretch/>
        </p:blipFill>
        <p:spPr>
          <a:xfrm>
            <a:off x="1127520" y="1628640"/>
            <a:ext cx="10344960" cy="4680000"/>
          </a:xfrm>
          <a:prstGeom prst="rect">
            <a:avLst/>
          </a:prstGeom>
          <a:ln w="0">
            <a:noFill/>
          </a:ln>
        </p:spPr>
      </p:pic>
      <p:sp>
        <p:nvSpPr>
          <p:cNvPr id="120" name="PlaceHolder 2"/>
          <p:cNvSpPr>
            <a:spLocks noGrp="1"/>
          </p:cNvSpPr>
          <p:nvPr>
            <p:ph type="sldNum" idx="40"/>
          </p:nvPr>
        </p:nvSpPr>
        <p:spPr>
          <a:xfrm>
            <a:off x="8760240" y="64641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15D365-2702-4D47-BD91-282FC2C1EA98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487520" y="444600"/>
            <a:ext cx="10368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Проектирование общей схемы методики создания набора данных для задач автономного движения БЭК в арктических условиях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2" name="Объект 4" descr=""/>
          <p:cNvPicPr/>
          <p:nvPr/>
        </p:nvPicPr>
        <p:blipFill>
          <a:blip r:embed="rId1"/>
          <a:stretch/>
        </p:blipFill>
        <p:spPr>
          <a:xfrm>
            <a:off x="609480" y="1620360"/>
            <a:ext cx="10972440" cy="4482360"/>
          </a:xfrm>
          <a:prstGeom prst="rect">
            <a:avLst/>
          </a:prstGeom>
          <a:ln w="0">
            <a:noFill/>
          </a:ln>
        </p:spPr>
      </p:pic>
      <p:sp>
        <p:nvSpPr>
          <p:cNvPr id="123" name="PlaceHolder 2"/>
          <p:cNvSpPr>
            <a:spLocks noGrp="1"/>
          </p:cNvSpPr>
          <p:nvPr>
            <p:ph type="sldNum" idx="41"/>
          </p:nvPr>
        </p:nvSpPr>
        <p:spPr>
          <a:xfrm>
            <a:off x="8737560" y="64663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C8B893C-1CB6-4850-96EB-0372A1A73B26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23520" y="274680"/>
            <a:ext cx="6756480" cy="6250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Реализация методики создания наборов данных. Обобщенная схема потока данных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ldNum" idx="42"/>
          </p:nvPr>
        </p:nvSpPr>
        <p:spPr>
          <a:xfrm>
            <a:off x="-2040840" y="649188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73385C-8A33-42DD-8395-2F544A635FAA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509240" y="0"/>
            <a:ext cx="468288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48240" y="1595160"/>
            <a:ext cx="12191760" cy="4704840"/>
          </a:xfrm>
          <a:prstGeom prst="rect">
            <a:avLst/>
          </a:prstGeom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775520" y="55800"/>
            <a:ext cx="8640720" cy="143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chemeClr val="dk1"/>
                </a:solidFill>
                <a:latin typeface="Cambria"/>
              </a:rPr>
              <a:t>Реализация методики создания наборов данных. Предварительная оценка качества сырых данных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2"/>
          <a:stretch/>
        </p:blipFill>
        <p:spPr>
          <a:xfrm>
            <a:off x="900000" y="5400000"/>
            <a:ext cx="900000" cy="70668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3"/>
          <a:stretch/>
        </p:blipFill>
        <p:spPr>
          <a:xfrm>
            <a:off x="2953080" y="5400000"/>
            <a:ext cx="1186920" cy="674280"/>
          </a:xfrm>
          <a:prstGeom prst="rect">
            <a:avLst/>
          </a:prstGeom>
          <a:ln w="0">
            <a:noFill/>
          </a:ln>
        </p:spPr>
      </p:pic>
      <p:pic>
        <p:nvPicPr>
          <p:cNvPr id="131" name="" descr=""/>
          <p:cNvPicPr/>
          <p:nvPr/>
        </p:nvPicPr>
        <p:blipFill>
          <a:blip r:embed="rId4"/>
          <a:stretch/>
        </p:blipFill>
        <p:spPr>
          <a:xfrm>
            <a:off x="7920000" y="5400000"/>
            <a:ext cx="1260000" cy="847800"/>
          </a:xfrm>
          <a:prstGeom prst="rect">
            <a:avLst/>
          </a:prstGeom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5"/>
          <a:stretch/>
        </p:blipFill>
        <p:spPr>
          <a:xfrm>
            <a:off x="10260000" y="5400000"/>
            <a:ext cx="1262520" cy="821880"/>
          </a:xfrm>
          <a:prstGeom prst="rect">
            <a:avLst/>
          </a:prstGeom>
          <a:ln w="0">
            <a:noFill/>
          </a:ln>
        </p:spPr>
      </p:pic>
      <p:sp>
        <p:nvSpPr>
          <p:cNvPr id="133" name="Номер слайда 1"/>
          <p:cNvSpPr txBox="1"/>
          <p:nvPr/>
        </p:nvSpPr>
        <p:spPr>
          <a:xfrm>
            <a:off x="9000000" y="64800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DBCDF875-2E73-4093-B5CC-AFBB1D4FC914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Реализация методики создания наборов данных. Обучение моделей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5" name="Объект 3" descr=""/>
          <p:cNvPicPr/>
          <p:nvPr/>
        </p:nvPicPr>
        <p:blipFill>
          <a:blip r:embed="rId1"/>
          <a:stretch/>
        </p:blipFill>
        <p:spPr>
          <a:xfrm>
            <a:off x="-21960" y="1989000"/>
            <a:ext cx="12213720" cy="4570560"/>
          </a:xfrm>
          <a:prstGeom prst="rect">
            <a:avLst/>
          </a:prstGeom>
          <a:ln w="0">
            <a:noFill/>
          </a:ln>
        </p:spPr>
      </p:pic>
      <p:sp>
        <p:nvSpPr>
          <p:cNvPr id="136" name="PlaceHolder 2"/>
          <p:cNvSpPr>
            <a:spLocks noGrp="1"/>
          </p:cNvSpPr>
          <p:nvPr>
            <p:ph type="sldNum" idx="43"/>
          </p:nvPr>
        </p:nvSpPr>
        <p:spPr>
          <a:xfrm>
            <a:off x="8760240" y="64929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33B4F9B-22B1-4617-A35F-72C10A41357E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19160" y="1260000"/>
            <a:ext cx="3120840" cy="504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2800" spc="-1" strike="noStrike">
                <a:solidFill>
                  <a:srgbClr val="0070c0"/>
                </a:solidFill>
                <a:latin typeface="Cambria"/>
              </a:rPr>
              <a:t>Реализация методики создания наборов данных. Первая стадия. Инференс на сырых данных и оценка согласованности моделей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Num" idx="44"/>
          </p:nvPr>
        </p:nvSpPr>
        <p:spPr>
          <a:xfrm>
            <a:off x="-2040840" y="64641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BF3B9DD-E8B3-4D43-9C26-6E10B88CDA0A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3240000" y="360"/>
            <a:ext cx="894816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81960" y="1124640"/>
            <a:ext cx="3121560" cy="4811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Реализация методики создания наборов данных. Вторая стадия. Оценка авторазметки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ldNum" idx="45"/>
          </p:nvPr>
        </p:nvSpPr>
        <p:spPr>
          <a:xfrm>
            <a:off x="-1968840" y="64929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EA9292-64E1-492E-AF60-EEC4CE36BE45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971600" y="0"/>
            <a:ext cx="6548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Объект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sldNum" idx="46"/>
          </p:nvPr>
        </p:nvSpPr>
        <p:spPr>
          <a:xfrm>
            <a:off x="8760240" y="63813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C5C18E-4DE5-46FF-A460-5FE60E2BF894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Ручная аннотация данных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6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933560" y="1521000"/>
            <a:ext cx="8322840" cy="4681080"/>
          </a:xfrm>
          <a:prstGeom prst="rect">
            <a:avLst/>
          </a:prstGeom>
          <a:ln w="0">
            <a:noFill/>
          </a:ln>
        </p:spPr>
      </p:pic>
      <p:sp>
        <p:nvSpPr>
          <p:cNvPr id="147" name="PlaceHolder 2"/>
          <p:cNvSpPr>
            <a:spLocks noGrp="1"/>
          </p:cNvSpPr>
          <p:nvPr>
            <p:ph type="sldNum" idx="4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93601E-5C5B-46DE-8EB1-0318843D5BF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33" fill="hold"/>
                                        <p:tgtEl>
                                          <p:spTgt spid="1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146"/>
                </p:tgtEl>
              </p:cMediaNode>
            </p:video>
            <p:seq>
              <p:cTn id="7" restart="whenNotActive" nodeType="interactiveSeq" fill="hold">
                <p:stCondLst>
                  <p:cond delay="0" evt="onClick">
                    <p:tgtEl>
                      <p:spTgt spid="146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146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775520" y="27468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rgbClr val="0070c0"/>
                </a:solidFill>
                <a:latin typeface="Cambria"/>
              </a:rPr>
              <a:t>Результаты автоматической аннотации данных 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9" name="Объект 5" descr=""/>
          <p:cNvPicPr/>
          <p:nvPr/>
        </p:nvPicPr>
        <p:blipFill>
          <a:blip r:embed="rId1"/>
          <a:stretch/>
        </p:blipFill>
        <p:spPr>
          <a:xfrm>
            <a:off x="609480" y="1701720"/>
            <a:ext cx="5702040" cy="2244600"/>
          </a:xfrm>
          <a:prstGeom prst="rect">
            <a:avLst/>
          </a:prstGeom>
          <a:ln w="0">
            <a:noFill/>
          </a:ln>
        </p:spPr>
      </p:pic>
      <p:sp>
        <p:nvSpPr>
          <p:cNvPr id="150" name="PlaceHolder 2"/>
          <p:cNvSpPr>
            <a:spLocks noGrp="1"/>
          </p:cNvSpPr>
          <p:nvPr>
            <p:ph type="sldNum" idx="4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37C2EA1-D9A2-4D5F-9029-2CC9E9AB0FB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empora LGC Uni"/>
            </a:endParaRPr>
          </a:p>
        </p:txBody>
      </p:sp>
      <p:pic>
        <p:nvPicPr>
          <p:cNvPr id="151" name="Рисунок 7" descr=""/>
          <p:cNvPicPr/>
          <p:nvPr/>
        </p:nvPicPr>
        <p:blipFill>
          <a:blip r:embed="rId2"/>
          <a:stretch/>
        </p:blipFill>
        <p:spPr>
          <a:xfrm>
            <a:off x="5846400" y="3873960"/>
            <a:ext cx="6213600" cy="2448360"/>
          </a:xfrm>
          <a:prstGeom prst="rect">
            <a:avLst/>
          </a:prstGeom>
          <a:ln w="0">
            <a:noFill/>
          </a:ln>
        </p:spPr>
      </p:pic>
      <p:sp>
        <p:nvSpPr>
          <p:cNvPr id="152" name="TextBox 9"/>
          <p:cNvSpPr/>
          <p:nvPr/>
        </p:nvSpPr>
        <p:spPr>
          <a:xfrm>
            <a:off x="216000" y="3946680"/>
            <a:ext cx="536400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Метрики трех моделей:</a:t>
            </a:r>
            <a:endParaRPr b="0" lang="ru-RU" sz="1500" spc="-1" strike="noStrike">
              <a:solidFill>
                <a:srgbClr val="000000"/>
              </a:solidFill>
              <a:latin typeface="Open Sans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BeiT_Base_224x224:</a:t>
            </a: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 b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est val_mIoU = 0.6341</a:t>
            </a:r>
            <a:endParaRPr b="0" lang="ru-RU" sz="1500" spc="-1" strike="noStrike">
              <a:solidFill>
                <a:srgbClr val="000000"/>
              </a:solidFill>
              <a:latin typeface="Open Sans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BEiT_Base_improved_train3 5</a:t>
            </a:r>
            <a:r>
              <a:rPr b="0" lang="ru-RU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12</a:t>
            </a:r>
            <a:r>
              <a:rPr b="0" lang="en-US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x5</a:t>
            </a:r>
            <a:r>
              <a:rPr b="0" lang="ru-RU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12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best val_mIoU = 0.6377 </a:t>
            </a:r>
            <a:endParaRPr b="0" lang="ru-RU" sz="1500" spc="-1" strike="noStrike">
              <a:solidFill>
                <a:srgbClr val="000000"/>
              </a:solidFill>
              <a:latin typeface="Open Sans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Mask2Former_SwinB_256x256: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best val_mIoU = 0.0517</a:t>
            </a:r>
            <a:endParaRPr b="0" lang="ru-RU" sz="1500" spc="-1" strike="noStrike">
              <a:solidFill>
                <a:srgbClr val="000000"/>
              </a:solidFill>
              <a:latin typeface="Open Sans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Mask2Former_SwinB_improved_train 5</a:t>
            </a:r>
            <a:r>
              <a:rPr b="0" lang="ru-RU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12</a:t>
            </a:r>
            <a:r>
              <a:rPr b="0" lang="en-US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x5</a:t>
            </a:r>
            <a:r>
              <a:rPr b="0" lang="ru-RU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12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best val_mIoU = 0.7065</a:t>
            </a:r>
            <a:endParaRPr b="0" lang="ru-RU" sz="1500" spc="-1" strike="noStrike">
              <a:solidFill>
                <a:srgbClr val="000000"/>
              </a:solidFill>
              <a:latin typeface="Open Sans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SegFormer_B5_256x256: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best val_mIoU = 0.6981 </a:t>
            </a:r>
            <a:r>
              <a:rPr b="0" lang="en-US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SegFormer_B5_improved_train2</a:t>
            </a:r>
            <a:r>
              <a:rPr b="0" lang="ru-RU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 </a:t>
            </a:r>
            <a:r>
              <a:rPr b="0" lang="en-US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5</a:t>
            </a:r>
            <a:r>
              <a:rPr b="0" lang="ru-RU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12</a:t>
            </a:r>
            <a:r>
              <a:rPr b="0" lang="en-US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x5</a:t>
            </a:r>
            <a:r>
              <a:rPr b="0" lang="ru-RU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12</a:t>
            </a:r>
            <a:r>
              <a:rPr b="0" lang="en-US" sz="1500" spc="-1" strike="noStrike">
                <a:solidFill>
                  <a:schemeClr val="dk1"/>
                </a:solidFill>
                <a:highlight>
                  <a:srgbClr val="8cc1af"/>
                </a:highlight>
                <a:latin typeface="Calibri"/>
              </a:rPr>
              <a:t>: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best val_mIoU = 0.7505</a:t>
            </a:r>
            <a:endParaRPr b="0" lang="ru-RU" sz="1500" spc="-1" strike="noStrike">
              <a:solidFill>
                <a:srgbClr val="000000"/>
              </a:solidFill>
              <a:latin typeface="Open Sans"/>
            </a:endParaRPr>
          </a:p>
        </p:txBody>
      </p:sp>
      <p:pic>
        <p:nvPicPr>
          <p:cNvPr id="153" name="Рисунок 11" descr=""/>
          <p:cNvPicPr/>
          <p:nvPr/>
        </p:nvPicPr>
        <p:blipFill>
          <a:blip r:embed="rId3"/>
          <a:stretch/>
        </p:blipFill>
        <p:spPr>
          <a:xfrm>
            <a:off x="6668640" y="2242440"/>
            <a:ext cx="4625280" cy="929520"/>
          </a:xfrm>
          <a:prstGeom prst="rect">
            <a:avLst/>
          </a:prstGeom>
          <a:ln w="0">
            <a:noFill/>
          </a:ln>
        </p:spPr>
      </p:pic>
      <p:sp>
        <p:nvSpPr>
          <p:cNvPr id="154" name=""/>
          <p:cNvSpPr txBox="1"/>
          <p:nvPr/>
        </p:nvSpPr>
        <p:spPr>
          <a:xfrm>
            <a:off x="1440000" y="1344600"/>
            <a:ext cx="10080000" cy="66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Первая итерация автоматической аннотации. Количество сырых данных: </a:t>
            </a:r>
            <a:r>
              <a:rPr b="1" lang="ru-RU" sz="1500" spc="-1" strike="noStrike">
                <a:solidFill>
                  <a:schemeClr val="dk1"/>
                </a:solidFill>
                <a:latin typeface="Calibri"/>
              </a:rPr>
              <a:t>130 изображений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1500" spc="-1" strike="noStrike">
              <a:solidFill>
                <a:srgbClr val="000000"/>
              </a:solidFill>
              <a:latin typeface="Open Sans"/>
            </a:endParaRPr>
          </a:p>
          <a:p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Предсказания моделей согласованы на </a:t>
            </a:r>
            <a:r>
              <a:rPr b="1" lang="ru-RU" sz="1500" spc="-1" strike="noStrike">
                <a:solidFill>
                  <a:schemeClr val="dk1"/>
                </a:solidFill>
                <a:latin typeface="Calibri"/>
              </a:rPr>
              <a:t>20 изображениях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, остальные необходимо разметить </a:t>
            </a:r>
            <a:r>
              <a:rPr b="1" lang="ru-RU" sz="1500" spc="-1" strike="noStrike">
                <a:solidFill>
                  <a:schemeClr val="dk1"/>
                </a:solidFill>
                <a:latin typeface="Calibri"/>
              </a:rPr>
              <a:t>вручную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1500" spc="-1" strike="noStrike">
              <a:solidFill>
                <a:srgbClr val="000000"/>
              </a:solidFill>
              <a:latin typeface="Open Sans"/>
            </a:endParaRPr>
          </a:p>
          <a:p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После оценки полученных анотаций (включая ручные) было </a:t>
            </a:r>
            <a:r>
              <a:rPr b="1" lang="ru-RU" sz="1500" spc="-1" strike="noStrike">
                <a:solidFill>
                  <a:schemeClr val="dk1"/>
                </a:solidFill>
                <a:latin typeface="Calibri"/>
              </a:rPr>
              <a:t>выявлено 4 некачественных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. </a:t>
            </a:r>
            <a:endParaRPr b="0" lang="ru-RU" sz="15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847520" y="764640"/>
            <a:ext cx="8640720" cy="99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0070c0"/>
                </a:solidFill>
                <a:latin typeface="Arial"/>
              </a:rPr>
              <a:t>Спасибо за внимание</a:t>
            </a:r>
            <a:r>
              <a:rPr b="1" lang="en-US" sz="4000" spc="-1" strike="noStrike">
                <a:solidFill>
                  <a:srgbClr val="0070c0"/>
                </a:solidFill>
                <a:latin typeface="Arial"/>
              </a:rPr>
              <a:t>!</a:t>
            </a:r>
            <a:endParaRPr b="0" lang="ru-RU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6" name="Рисунок 3" descr=""/>
          <p:cNvPicPr/>
          <p:nvPr/>
        </p:nvPicPr>
        <p:blipFill>
          <a:blip r:embed="rId1"/>
          <a:stretch/>
        </p:blipFill>
        <p:spPr>
          <a:xfrm>
            <a:off x="4255920" y="1786680"/>
            <a:ext cx="3679560" cy="3558960"/>
          </a:xfrm>
          <a:prstGeom prst="rect">
            <a:avLst/>
          </a:prstGeom>
          <a:ln w="0">
            <a:noFill/>
          </a:ln>
        </p:spPr>
      </p:pic>
      <p:sp>
        <p:nvSpPr>
          <p:cNvPr id="157" name="TextBox 5"/>
          <p:cNvSpPr/>
          <p:nvPr/>
        </p:nvSpPr>
        <p:spPr>
          <a:xfrm>
            <a:off x="5652000" y="5346000"/>
            <a:ext cx="887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GitHub</a:t>
            </a:r>
            <a:endParaRPr b="0" lang="ru-RU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49"/>
          </p:nvPr>
        </p:nvSpPr>
        <p:spPr>
          <a:xfrm>
            <a:off x="8760240" y="64911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1" lang="ru-RU" sz="14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BF3A69-BA96-4FBC-BD01-2462AD4C8E6F}" type="slidenum">
              <a:rPr b="1" lang="ru-RU" sz="1400" spc="-1" strike="noStrike">
                <a:solidFill>
                  <a:schemeClr val="dk1"/>
                </a:solidFill>
                <a:latin typeface="Arial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empora LGC Un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narfu_presentation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Cambr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arfu_presentation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Cambr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narfu_presentation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Cambr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narfu_presentation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Cambr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narfu_presentation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Cambr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narfu_presentation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Cambr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narfu_presentation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Cambr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narfu_presentation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Cambr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narfu_presentation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Cambr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narfu_presentation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Cambr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narfu_presentation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Cambria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narfu_presentation</Template>
  <TotalTime>2344</TotalTime>
  <Application>LibreOffice/24.2.4.1$Linux_X86_64 LibreOffice_project/420$Build-1</Application>
  <AppVersion>15.0000</AppVersion>
  <Words>489</Words>
  <Paragraphs>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2017-12-26T07:44:00Z</dcterms:created>
  <dc:creator>Воловик Ольга Анатольевна</dc:creator>
  <dc:description/>
  <dc:language>ru-RU</dc:language>
  <cp:lastModifiedBy/>
  <dcterms:modified xsi:type="dcterms:W3CDTF">2026-05-23T12:49:29Z</dcterms:modified>
  <cp:revision>92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16</vt:i4>
  </property>
</Properties>
</file>